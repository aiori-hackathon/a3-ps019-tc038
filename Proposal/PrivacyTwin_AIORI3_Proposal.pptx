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6400800" cy="2554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E8782"/>
                </a:solidFill>
                <a:latin typeface="Aptos"/>
              </a:defRPr>
            </a:pPr>
            <a:r>
              <a:rPr dirty="0"/>
              <a:t>AIORI HACKATHON 3  |  PS-019</a:t>
            </a:r>
            <a:r>
              <a:rPr lang="en-IN" dirty="0"/>
              <a:t> | TC-038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4200" b="1">
                <a:solidFill>
                  <a:srgbClr val="182A4B"/>
                </a:solidFill>
                <a:latin typeface="Aptos Display"/>
              </a:defRPr>
            </a:pPr>
            <a:r>
              <a:t>PrivacyTwin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424160" cy="11430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2965B5"/>
                </a:solidFill>
                <a:latin typeface="Aptos"/>
              </a:defRPr>
            </a:pPr>
            <a:r>
              <a:t>An Evidence-Centric Personal-Data Discovery Platform</a:t>
            </a:r>
          </a:p>
          <a:p>
            <a:pPr>
              <a:spcAft>
                <a:spcPts val="500"/>
              </a:spcAft>
              <a:defRPr sz="2300" b="0">
                <a:solidFill>
                  <a:srgbClr val="2965B5"/>
                </a:solidFill>
                <a:latin typeface="Aptos"/>
              </a:defRPr>
            </a:pPr>
            <a:r>
              <a:t>with ReviewGuard for Versioned, Contradiction-Aware Human Decisions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03320"/>
            <a:ext cx="9052560" cy="685800"/>
          </a:xfrm>
          <a:prstGeom prst="roundRect">
            <a:avLst/>
          </a:prstGeom>
          <a:solidFill>
            <a:srgbClr val="182A4B"/>
          </a:solidFill>
          <a:ln w="14604">
            <a:solidFill>
              <a:srgbClr val="182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DETECT  →  EXPLAIN  →  CHALLENGE  →  REVIEW  →  TRACK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786455"/>
            <a:ext cx="5486400" cy="5170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A3442"/>
                </a:solidFill>
                <a:latin typeface="Aptos"/>
              </a:defRPr>
            </a:pPr>
            <a:r>
              <a:rPr dirty="0"/>
              <a:t>Proposed by: </a:t>
            </a:r>
            <a:r>
              <a:rPr lang="en-IN" dirty="0"/>
              <a:t>Team Cognitive Crew</a:t>
            </a:r>
            <a:br>
              <a:rPr lang="en-IN" dirty="0"/>
            </a:br>
            <a:r>
              <a:rPr dirty="0"/>
              <a:t>Nivedita V P</a:t>
            </a:r>
            <a:r>
              <a:rPr lang="en-IN" dirty="0"/>
              <a:t>, Divya A, Bharani H(Mentor)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41248" y="539496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97686"/>
                </a:solidFill>
                <a:latin typeface="Aptos"/>
              </a:defRPr>
            </a:pPr>
            <a:r>
              <a:t>Submission proposal  • 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0584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A3442"/>
                </a:solidFill>
                <a:latin typeface="Aptos"/>
              </a:defRPr>
            </a:pPr>
            <a:r>
              <a:t>Challenge: Personal-Data Discovery and Privacy Evidence 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97686"/>
                </a:solidFill>
                <a:latin typeface="Aptos"/>
              </a:defRPr>
            </a:pPr>
            <a: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82A4B"/>
                </a:solidFill>
                <a:latin typeface="Aptos Display"/>
              </a:defRPr>
            </a:pPr>
            <a:r>
              <a:t>Abstract / Problem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7686"/>
                </a:solidFill>
                <a:latin typeface="Aptos"/>
              </a:defRPr>
            </a:pPr>
            <a:r>
              <a:t>AIORI 3 • PS-019: Personal-Data Discovery and Privacy Evidence Inventory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1064240" cy="32004"/>
          </a:xfrm>
          <a:prstGeom prst="rect">
            <a:avLst/>
          </a:prstGeom>
          <a:solidFill>
            <a:srgbClr val="1E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97686"/>
                </a:solidFill>
                <a:latin typeface="Aptos"/>
              </a:defRPr>
            </a:pPr>
            <a:r>
              <a:t>PrivacyTwin  •  AIORI Hackathon 3                                      2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828800" cy="438912"/>
          </a:xfrm>
          <a:prstGeom prst="roundRect">
            <a:avLst/>
          </a:prstGeom>
          <a:solidFill>
            <a:srgbClr val="182A4B"/>
          </a:solidFill>
          <a:ln w="14604">
            <a:solidFill>
              <a:srgbClr val="182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10789920" cy="12344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A3442"/>
                </a:solidFill>
                <a:latin typeface="Aptos"/>
              </a:defRPr>
            </a:pPr>
            <a:r>
              <a:t>PrivacyTwin is a proposed local-first platform for discovering candidate personal-data fields in CSV and SQLite sources. It combines deterministic signals with bounded Gemini-powered agents to explain ambiguous fields, preserve competing interpretations, and identify missing purpose or retention evidence. ReviewGuard records versioned human decisions and selectively marks a decision stale when a dependency it relied on changes. The system produces a field-level Evidence Passport, review history, inventory and gap report. Its output is technical evidence for human review—not a legal-compliance determination.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401568"/>
            <a:ext cx="1828800" cy="438912"/>
          </a:xfrm>
          <a:prstGeom prst="roundRect">
            <a:avLst/>
          </a:prstGeom>
          <a:solidFill>
            <a:srgbClr val="1E8782"/>
          </a:solidFill>
          <a:ln w="14604">
            <a:solidFill>
              <a:srgbClr val="1E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50208"/>
            <a:ext cx="10607040" cy="2057400"/>
          </a:xfrm>
          <a:prstGeom prst="rect">
            <a:avLst/>
          </a:prstGeom>
          <a:noFill/>
        </p:spPr>
        <p:txBody>
          <a:bodyPr wrap="square" lIns="45720" r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Misleading or domain-specific column names make personal-data classification uncertain.</a:t>
            </a:r>
          </a:p>
          <a:p>
            <a:pPr>
              <a:spcAft>
                <a:spcPts val="8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Pattern-only rules can confuse personal identifiers with business identifiers or substrings inside other identifiers.</a:t>
            </a:r>
          </a:p>
          <a:p>
            <a:pPr>
              <a:spcAft>
                <a:spcPts val="8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Single confidence scores may hide competing evidence and mixed-value columns.</a:t>
            </a:r>
          </a:p>
          <a:p>
            <a:pPr>
              <a:spcAft>
                <a:spcPts val="8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Previous approvals can become stale after data, rules or metadata change.</a:t>
            </a:r>
          </a:p>
          <a:p>
            <a:pPr>
              <a:spcAft>
                <a:spcPts val="8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Reviewing every field again is expensive; silently retaining obsolete decisions is risky.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82A4B"/>
                </a:solidFill>
                <a:latin typeface="Aptos Display"/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7686"/>
                </a:solidFill>
                <a:latin typeface="Aptos"/>
              </a:defRPr>
            </a:pPr>
            <a:r>
              <a:t>Existing approaches solve parts of the problem; PrivacyTwin connects evidence to review freshness.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1064240" cy="32004"/>
          </a:xfrm>
          <a:prstGeom prst="rect">
            <a:avLst/>
          </a:prstGeom>
          <a:solidFill>
            <a:srgbClr val="1E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97686"/>
                </a:solidFill>
                <a:latin typeface="Aptos"/>
              </a:defRPr>
            </a:pPr>
            <a:r>
              <a:t>PrivacyTwin  •  AIORI Hackathon 3                                      3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4846320" cy="502920"/>
          </a:xfrm>
          <a:prstGeom prst="roundRect">
            <a:avLst/>
          </a:prstGeom>
          <a:solidFill>
            <a:srgbClr val="182A4B"/>
          </a:solidFill>
          <a:ln w="14604">
            <a:solidFill>
              <a:srgbClr val="182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Common approaches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754880" cy="2560320"/>
          </a:xfrm>
          <a:prstGeom prst="rect">
            <a:avLst/>
          </a:prstGeom>
          <a:noFill/>
        </p:spPr>
        <p:txBody>
          <a:bodyPr wrap="square" lIns="45720" r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A3442"/>
                </a:solidFill>
                <a:latin typeface="Aptos"/>
              </a:defRPr>
            </a:pPr>
            <a:r>
              <a:t>• Regex and configurable rules</a:t>
            </a:r>
          </a:p>
          <a:p>
            <a:pPr>
              <a:spcAft>
                <a:spcPts val="800"/>
              </a:spcAft>
              <a:defRPr sz="1600">
                <a:solidFill>
                  <a:srgbClr val="2A3442"/>
                </a:solidFill>
                <a:latin typeface="Aptos"/>
              </a:defRPr>
            </a:pPr>
            <a:r>
              <a:t>• ML / semantic classification</a:t>
            </a:r>
          </a:p>
          <a:p>
            <a:pPr>
              <a:spcAft>
                <a:spcPts val="800"/>
              </a:spcAft>
              <a:defRPr sz="1600">
                <a:solidFill>
                  <a:srgbClr val="2A3442"/>
                </a:solidFill>
                <a:latin typeface="Aptos"/>
              </a:defRPr>
            </a:pPr>
            <a:r>
              <a:t>• Privacy knowledge representation</a:t>
            </a:r>
          </a:p>
          <a:p>
            <a:pPr>
              <a:spcAft>
                <a:spcPts val="800"/>
              </a:spcAft>
              <a:defRPr sz="1600">
                <a:solidFill>
                  <a:srgbClr val="2A3442"/>
                </a:solidFill>
                <a:latin typeface="Aptos"/>
              </a:defRPr>
            </a:pPr>
            <a:r>
              <a:t>• Metadata catalogues and data lineage</a:t>
            </a:r>
          </a:p>
          <a:p>
            <a:pPr>
              <a:spcAft>
                <a:spcPts val="800"/>
              </a:spcAft>
              <a:defRPr sz="1600">
                <a:solidFill>
                  <a:srgbClr val="2A3442"/>
                </a:solidFill>
                <a:latin typeface="Aptos"/>
              </a:defRPr>
            </a:pPr>
            <a:r>
              <a:t>• Policy and runtime requirement 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4846320" cy="502920"/>
          </a:xfrm>
          <a:prstGeom prst="roundRect">
            <a:avLst/>
          </a:prstGeom>
          <a:solidFill>
            <a:srgbClr val="1E8782"/>
          </a:solidFill>
          <a:ln w="14604">
            <a:solidFill>
              <a:srgbClr val="1E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PrivacyTwin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663440" cy="2743200"/>
          </a:xfrm>
          <a:prstGeom prst="rect">
            <a:avLst/>
          </a:prstGeom>
          <a:noFill/>
        </p:spPr>
        <p:txBody>
          <a:bodyPr wrap="square" lIns="45720" r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Combine technical evidence signals</a:t>
            </a:r>
          </a:p>
          <a:p>
            <a:pPr>
              <a:spcAft>
                <a:spcPts val="8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Preserve supporting and contradicting evidence</a:t>
            </a:r>
          </a:p>
          <a:p>
            <a:pPr>
              <a:spcAft>
                <a:spcPts val="8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Use Gemini for bounded contextual explanation</a:t>
            </a:r>
          </a:p>
          <a:p>
            <a:pPr>
              <a:spcAft>
                <a:spcPts val="8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Persist scoped human decisions in ReviewGuard</a:t>
            </a:r>
          </a:p>
          <a:p>
            <a:pPr>
              <a:spcAft>
                <a:spcPts val="8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Reopen only contracts affected by relevant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212080"/>
            <a:ext cx="10241280" cy="713232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1E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700" b="1">
                <a:solidFill>
                  <a:srgbClr val="182A4B"/>
                </a:solidFill>
                <a:latin typeface="Aptos"/>
              </a:defRPr>
            </a:pPr>
            <a:r>
              <a:t>Key distinction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053328"/>
            <a:ext cx="98755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A3442"/>
                </a:solidFill>
                <a:latin typeface="Aptos"/>
              </a:defRPr>
            </a:pPr>
            <a:r>
              <a:t>From “What class is this field?” to “What evidence supports this decision, what conflicts with it, and can we still trust the last review?”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82A4B"/>
                </a:solidFill>
                <a:latin typeface="Aptos Display"/>
              </a:defRPr>
            </a:pPr>
            <a:r>
              <a:t>Literature &amp; RFC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7686"/>
                </a:solidFill>
                <a:latin typeface="Aptos"/>
              </a:defRPr>
            </a:pPr>
            <a:r>
              <a:t>Focused comparison of related research areas; verify full bibliographic details before final submission.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1064240" cy="32004"/>
          </a:xfrm>
          <a:prstGeom prst="rect">
            <a:avLst/>
          </a:prstGeom>
          <a:solidFill>
            <a:srgbClr val="1E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97686"/>
                </a:solidFill>
                <a:latin typeface="Aptos"/>
              </a:defRPr>
            </a:pPr>
            <a:r>
              <a:t>PrivacyTwin  •  AIORI Hackathon 3                                      4 /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53312"/>
          <a:ext cx="1138428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Work / area</a:t>
                      </a:r>
                    </a:p>
                  </a:txBody>
                  <a:tcPr marL="64008" marR="64008" marT="36576" marB="36576">
                    <a:solidFill>
                      <a:srgbClr val="18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Existing contribution</a:t>
                      </a:r>
                    </a:p>
                  </a:txBody>
                  <a:tcPr marL="64008" marR="64008" marT="36576" marB="36576">
                    <a:solidFill>
                      <a:srgbClr val="18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PrivacyTwin distinction</a:t>
                      </a:r>
                    </a:p>
                  </a:txBody>
                  <a:tcPr marL="64008" marR="64008" marT="36576" marB="36576">
                    <a:solidFill>
                      <a:srgbClr val="18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TEIRESIAS</a:t>
                      </a:r>
                    </a:p>
                  </a:txBody>
                  <a:tcPr marL="64008" marR="64008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Scalable personal-data discovery and inventory</a:t>
                      </a:r>
                    </a:p>
                  </a:txBody>
                  <a:tcPr marL="64008" marR="64008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Emphasis here is contradiction-aware evidence and review freshness</a:t>
                      </a:r>
                    </a:p>
                  </a:txBody>
                  <a:tcPr marL="64008" marR="64008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PRIVAFRAME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Knowledge-graph representation and semantic sensitive-data detection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PrivacyTwin focuses on field evidence cases and scoped review decisions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PII in Data Lakes</a:t>
                      </a:r>
                    </a:p>
                  </a:txBody>
                  <a:tcPr marL="64008" marR="64008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PII discovery with metadata lifecycle management</a:t>
                      </a:r>
                    </a:p>
                  </a:txBody>
                  <a:tcPr marL="64008" marR="64008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Adds dependency-aware reopening and explicit review freshness</a:t>
                      </a:r>
                    </a:p>
                  </a:txBody>
                  <a:tcPr marL="64008" marR="64008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Column-level lineage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Data lineage and audit trails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Focuses on whether a classification/metadata decision remains valid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PrivGraph</a:t>
                      </a:r>
                    </a:p>
                  </a:txBody>
                  <a:tcPr marL="64008" marR="64008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Privacy relationships and aggregation risks</a:t>
                      </a:r>
                    </a:p>
                  </a:txBody>
                  <a:tcPr marL="64008" marR="64008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Different objective from operational field discovery and review tracking</a:t>
                      </a:r>
                    </a:p>
                  </a:txBody>
                  <a:tcPr marL="64008" marR="64008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Multi-engine PII classification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Combines classification engines and confidence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Adds competing evidence, scoped contracts and stale-review testing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PAM / privacy requirements</a:t>
                      </a:r>
                    </a:p>
                  </a:txBody>
                  <a:tcPr marL="64008" marR="64008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Specifying privacy requirements and runtime validation</a:t>
                      </a:r>
                    </a:p>
                  </a:txBody>
                  <a:tcPr marL="64008" marR="64008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PrivacyTwin reports technical evidence; it does not enforce policy or infer lawful basis</a:t>
                      </a:r>
                    </a:p>
                  </a:txBody>
                  <a:tcPr marL="64008" marR="64008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870448"/>
            <a:ext cx="1828800" cy="438912"/>
          </a:xfrm>
          <a:prstGeom prst="roundRect">
            <a:avLst/>
          </a:prstGeom>
          <a:solidFill>
            <a:srgbClr val="1E8782"/>
          </a:solidFill>
          <a:ln w="14604">
            <a:solidFill>
              <a:srgbClr val="1E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5870448"/>
            <a:ext cx="868680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82A4B"/>
                </a:solidFill>
                <a:latin typeface="Aptos"/>
              </a:defRPr>
            </a:pPr>
            <a:r>
              <a:t>Evidence-centric classification combined with dependency-aware, selective reopening of human review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82A4B"/>
                </a:solidFill>
                <a:latin typeface="Aptos Display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7686"/>
                </a:solidFill>
                <a:latin typeface="Aptos"/>
              </a:defRPr>
            </a:pPr>
            <a:r>
              <a:t>PrivacyTwin combines detection, bounded Gemini assistance, metadata evidence and ReviewGuard.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1064240" cy="32004"/>
          </a:xfrm>
          <a:prstGeom prst="rect">
            <a:avLst/>
          </a:prstGeom>
          <a:solidFill>
            <a:srgbClr val="1E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97686"/>
                </a:solidFill>
                <a:latin typeface="Aptos"/>
              </a:defRPr>
            </a:pPr>
            <a:r>
              <a:t>PrivacyTwin  •  AIORI Hackathon 3                                      5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08760"/>
            <a:ext cx="1508760" cy="685800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300" b="1">
                <a:solidFill>
                  <a:srgbClr val="182A4B"/>
                </a:solidFill>
                <a:latin typeface="Aptos"/>
              </a:defRPr>
            </a:pPr>
            <a:r>
              <a:t>CSV / SQLite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1847088"/>
            <a:ext cx="246888" cy="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40280" y="1508760"/>
            <a:ext cx="1325880" cy="685800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300" b="1">
                <a:solidFill>
                  <a:srgbClr val="182A4B"/>
                </a:solidFill>
                <a:latin typeface="Aptos"/>
              </a:defRPr>
            </a:pPr>
            <a:r>
              <a:t>Profile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66160" y="1847088"/>
            <a:ext cx="246888" cy="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86200" y="1508760"/>
            <a:ext cx="1325880" cy="685800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300" b="1">
                <a:solidFill>
                  <a:srgbClr val="182A4B"/>
                </a:solidFill>
                <a:latin typeface="Aptos"/>
              </a:defRPr>
            </a:pPr>
            <a:r>
              <a:t>Signals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12080" y="1847088"/>
            <a:ext cx="246888" cy="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32120" y="1508760"/>
            <a:ext cx="1508760" cy="685800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300" b="1">
                <a:solidFill>
                  <a:srgbClr val="182A4B"/>
                </a:solidFill>
                <a:latin typeface="Aptos"/>
              </a:defRPr>
            </a:pPr>
            <a:r>
              <a:t>Evidence fusion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40879" y="1847088"/>
            <a:ext cx="246889" cy="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60920" y="1508760"/>
            <a:ext cx="1508760" cy="685800"/>
          </a:xfrm>
          <a:prstGeom prst="roundRect">
            <a:avLst/>
          </a:prstGeom>
          <a:solidFill>
            <a:srgbClr val="1E8782"/>
          </a:solidFill>
          <a:ln w="14604">
            <a:solidFill>
              <a:srgbClr val="1E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Gemini agents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680" y="1847088"/>
            <a:ext cx="246888" cy="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89720" y="1508760"/>
            <a:ext cx="1645920" cy="685800"/>
          </a:xfrm>
          <a:prstGeom prst="roundRect">
            <a:avLst/>
          </a:prstGeom>
          <a:solidFill>
            <a:srgbClr val="1E8782"/>
          </a:solidFill>
          <a:ln w="14604">
            <a:solidFill>
              <a:srgbClr val="1E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ReviewGuard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743200"/>
            <a:ext cx="9966960" cy="640080"/>
          </a:xfrm>
          <a:prstGeom prst="roundRect">
            <a:avLst/>
          </a:prstGeom>
          <a:solidFill>
            <a:srgbClr val="182A4B"/>
          </a:solidFill>
          <a:ln w="14604">
            <a:solidFill>
              <a:srgbClr val="182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Output: Evidence Passport • Inventory • Review history • Checklist • gap_report.csv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10515600" cy="2011680"/>
          </a:xfrm>
          <a:prstGeom prst="rect">
            <a:avLst/>
          </a:prstGeom>
          <a:noFill/>
        </p:spPr>
        <p:txBody>
          <a:bodyPr wrap="square" lIns="45720" r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Five classes: Identity, Contact, Location, Government/Official ID, Demographic.</a:t>
            </a:r>
          </a:p>
          <a:p>
            <a:pPr>
              <a:spcAft>
                <a:spcPts val="8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Gemini agents suggest contextual interpretations and explanations; local validators verify evidence references.</a:t>
            </a:r>
          </a:p>
          <a:p>
            <a:pPr>
              <a:spcAft>
                <a:spcPts val="8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ReviewGuard uses deterministic dependency checks—not an LLM—to decide whether a review contract becomes stale.</a:t>
            </a:r>
          </a:p>
          <a:p>
            <a:pPr>
              <a:spcAft>
                <a:spcPts val="8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Metadata Fix Preview shows proposed gap closure without saving until the user explicitly confirms.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82A4B"/>
                </a:solidFill>
                <a:latin typeface="Aptos Display"/>
              </a:defRPr>
            </a:pPr>
            <a:r>
              <a:t>Solution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7686"/>
                </a:solidFill>
                <a:latin typeface="Aptos"/>
              </a:defRPr>
            </a:pPr>
            <a:r>
              <a:t>Before-and-after comparison of the proposed improvements.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1064240" cy="32004"/>
          </a:xfrm>
          <a:prstGeom prst="rect">
            <a:avLst/>
          </a:prstGeom>
          <a:solidFill>
            <a:srgbClr val="1E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97686"/>
                </a:solidFill>
                <a:latin typeface="Aptos"/>
              </a:defRPr>
            </a:pPr>
            <a:r>
              <a:t>PrivacyTwin  •  AIORI Hackathon 3                                      6 /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17320"/>
          <a:ext cx="107442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9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Before</a:t>
                      </a:r>
                    </a:p>
                  </a:txBody>
                  <a:tcPr marL="64008" marR="64008" marT="36576" marB="36576">
                    <a:solidFill>
                      <a:srgbClr val="18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After with PrivacyTwin</a:t>
                      </a:r>
                    </a:p>
                  </a:txBody>
                  <a:tcPr marL="64008" marR="64008" marT="36576" marB="36576">
                    <a:solidFill>
                      <a:srgbClr val="18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One label and a confidence score</a:t>
                      </a:r>
                    </a:p>
                  </a:txBody>
                  <a:tcPr marL="64008" marR="64008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Supporting + contradicting evidence, confidence and ambiguity</a:t>
                      </a:r>
                    </a:p>
                  </a:txBody>
                  <a:tcPr marL="64008" marR="64008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Rules may confuse embedded identifier patterns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India-first validators plus deceptive negative cases and grouped evidence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Review decisions are not persisted or scoped</a:t>
                      </a:r>
                    </a:p>
                  </a:txBody>
                  <a:tcPr marL="64008" marR="64008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Versioned classification and metadata review contracts</a:t>
                      </a:r>
                    </a:p>
                  </a:txBody>
                  <a:tcPr marL="64008" marR="64008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Every rescan may prompt repeat review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Selective stale marking based on changed dependencies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Metadata gaps are manually inspected</a:t>
                      </a:r>
                    </a:p>
                  </a:txBody>
                  <a:tcPr marL="64008" marR="64008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Configurable checklist, Fix Preview and gap_report.csv</a:t>
                      </a:r>
                    </a:p>
                  </a:txBody>
                  <a:tcPr marL="64008" marR="64008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A proposed change may be saved prematurely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Preview is non-mutating; save requires explicit action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LLM output could be treated as authoritative</a:t>
                      </a:r>
                    </a:p>
                  </a:txBody>
                  <a:tcPr marL="64008" marR="64008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Gemini suggestions are validated; deterministic code owns review-state changes</a:t>
                      </a:r>
                    </a:p>
                  </a:txBody>
                  <a:tcPr marL="64008" marR="64008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6080760"/>
            <a:ext cx="1920240" cy="384048"/>
          </a:xfrm>
          <a:prstGeom prst="roundRect">
            <a:avLst/>
          </a:prstGeom>
          <a:solidFill>
            <a:srgbClr val="1E8782"/>
          </a:solidFill>
          <a:ln w="14604">
            <a:solidFill>
              <a:srgbClr val="1E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Optimization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6053328"/>
            <a:ext cx="82296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82A4B"/>
                </a:solidFill>
                <a:latin typeface="Aptos"/>
              </a:defRPr>
            </a:pPr>
            <a:r>
              <a:t>Reduce unnecessary repeat reviews while retaining transparent evidence and review integrity.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82A4B"/>
                </a:solidFill>
                <a:latin typeface="Aptos Display"/>
              </a:defRPr>
            </a:pPr>
            <a:r>
              <a:t>Architecture Design (UML / Component 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7686"/>
                </a:solidFill>
                <a:latin typeface="Aptos"/>
              </a:defRPr>
            </a:pPr>
            <a:r>
              <a:t>Recommended hackathon build: one Streamlit process, modular Python core, SQLite persistence and optional Gemini API.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1064240" cy="32004"/>
          </a:xfrm>
          <a:prstGeom prst="rect">
            <a:avLst/>
          </a:prstGeom>
          <a:solidFill>
            <a:srgbClr val="1E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97686"/>
                </a:solidFill>
                <a:latin typeface="Aptos"/>
              </a:defRPr>
            </a:pPr>
            <a:r>
              <a:t>PrivacyTwin  •  AIORI Hackathon 3                                      7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2057400" cy="566928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200" b="1">
                <a:solidFill>
                  <a:srgbClr val="182A4B"/>
                </a:solidFill>
                <a:latin typeface="Aptos"/>
              </a:defRPr>
            </a:pPr>
            <a:r>
              <a:t>CSV files / SQLite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325880"/>
            <a:ext cx="2331720" cy="566928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200" b="1">
                <a:solidFill>
                  <a:srgbClr val="182A4B"/>
                </a:solidFill>
                <a:latin typeface="Aptos"/>
              </a:defRPr>
            </a:pPr>
            <a:r>
              <a:t>Profiler + deterministic detectors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1325880"/>
            <a:ext cx="2240280" cy="566928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200" b="1">
                <a:solidFill>
                  <a:srgbClr val="182A4B"/>
                </a:solidFill>
                <a:latin typeface="Aptos"/>
              </a:defRPr>
            </a:pPr>
            <a:r>
              <a:t>Evidence fusion + conflict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25880"/>
            <a:ext cx="2286000" cy="566928"/>
          </a:xfrm>
          <a:prstGeom prst="roundRect">
            <a:avLst/>
          </a:prstGeom>
          <a:solidFill>
            <a:srgbClr val="1E8782"/>
          </a:solidFill>
          <a:ln w="14604">
            <a:solidFill>
              <a:srgbClr val="1E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Gemini specialist agents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1609344"/>
            <a:ext cx="274320" cy="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257800" y="1609344"/>
            <a:ext cx="274320" cy="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63840" y="1609344"/>
            <a:ext cx="274320" cy="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0" y="2286000"/>
            <a:ext cx="2286000" cy="548640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1E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100" b="1">
                <a:solidFill>
                  <a:srgbClr val="182A4B"/>
                </a:solidFill>
                <a:latin typeface="Aptos"/>
              </a:defRPr>
            </a:pPr>
            <a:r>
              <a:t>Evidence-ID / schema validation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72600" y="1892807"/>
            <a:ext cx="0" cy="320041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623560" y="2286000"/>
            <a:ext cx="2240280" cy="548640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200" b="1">
                <a:solidFill>
                  <a:srgbClr val="182A4B"/>
                </a:solidFill>
                <a:latin typeface="Aptos"/>
              </a:defRPr>
            </a:pPr>
            <a:r>
              <a:t>Field evidence case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48272" y="1892807"/>
            <a:ext cx="0" cy="320041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909560" y="2560320"/>
            <a:ext cx="320040" cy="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26080" y="3337560"/>
            <a:ext cx="2743200" cy="731520"/>
          </a:xfrm>
          <a:prstGeom prst="roundRect">
            <a:avLst/>
          </a:prstGeom>
          <a:solidFill>
            <a:srgbClr val="182A4B"/>
          </a:solidFill>
          <a:ln w="14604">
            <a:solidFill>
              <a:srgbClr val="182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ReviewGuard</a:t>
            </a:r>
            <a:br/>
            <a:r>
              <a:t>Deterministic dependency checks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337560"/>
            <a:ext cx="2743200" cy="731520"/>
          </a:xfrm>
          <a:prstGeom prst="roundRect">
            <a:avLst/>
          </a:prstGeom>
          <a:solidFill>
            <a:srgbClr val="1E8782"/>
          </a:solidFill>
          <a:ln w="14604">
            <a:solidFill>
              <a:srgbClr val="1E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Metadata checklist + Fix Preview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4754880" y="2834640"/>
            <a:ext cx="1737360" cy="41148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40880" y="2834640"/>
            <a:ext cx="365760" cy="41148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926080" y="4434840"/>
            <a:ext cx="2743200" cy="731520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200" b="1">
                <a:solidFill>
                  <a:srgbClr val="182A4B"/>
                </a:solidFill>
                <a:latin typeface="Aptos"/>
              </a:defRPr>
            </a:pPr>
            <a:r>
              <a:t>SQLite: contracts, fingerprints,</a:t>
            </a:r>
            <a:br/>
            <a:r>
              <a:t>versions, actions and rationale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434840"/>
            <a:ext cx="2743200" cy="731520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200" b="1">
                <a:solidFill>
                  <a:srgbClr val="182A4B"/>
                </a:solidFill>
                <a:latin typeface="Aptos"/>
              </a:defRPr>
            </a:pPr>
            <a:r>
              <a:t>Streamlit UI</a:t>
            </a:r>
            <a:br/>
            <a:r>
              <a:t>Inventory • Field case • History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297680" y="4069080"/>
            <a:ext cx="0" cy="27432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98079" y="4069080"/>
            <a:ext cx="0" cy="27432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69280" y="4800600"/>
            <a:ext cx="365760" cy="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828800" y="5623560"/>
            <a:ext cx="8778240" cy="566928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1E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400" b="1">
                <a:solidFill>
                  <a:srgbClr val="182A4B"/>
                </a:solidFill>
                <a:latin typeface="Aptos"/>
              </a:defRPr>
            </a:pPr>
            <a:r>
              <a:t>Outputs: Evidence Passport • inventory export • gap_report.csv • evaluation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98079" y="5166360"/>
            <a:ext cx="0" cy="36576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828800" y="6263640"/>
            <a:ext cx="896112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97686"/>
                </a:solidFill>
                <a:latin typeface="Aptos"/>
              </a:defRPr>
            </a:pPr>
            <a:r>
              <a:t>Gemini API key is read from GEMINI_API_KEY; never embed it in source code or browser 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82A4B"/>
                </a:solidFill>
                <a:latin typeface="Aptos Display"/>
              </a:defRPr>
            </a:pPr>
            <a:r>
              <a:t>Data Flow Diagram (DFD)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7686"/>
                </a:solidFill>
                <a:latin typeface="Aptos"/>
              </a:defRPr>
            </a:pPr>
            <a:r>
              <a:t>Data flows from local sources to field-level evidence cases and reviewable outputs.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1064240" cy="32004"/>
          </a:xfrm>
          <a:prstGeom prst="rect">
            <a:avLst/>
          </a:prstGeom>
          <a:solidFill>
            <a:srgbClr val="1E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97686"/>
                </a:solidFill>
                <a:latin typeface="Aptos"/>
              </a:defRPr>
            </a:pPr>
            <a:r>
              <a:t>PrivacyTwin  •  AIORI Hackathon 3                                      8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1828800" cy="685800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100" b="1">
                <a:solidFill>
                  <a:srgbClr val="182A4B"/>
                </a:solidFill>
                <a:latin typeface="Aptos"/>
              </a:defRPr>
            </a:pPr>
            <a:r>
              <a:t>1. Select sources</a:t>
            </a:r>
            <a:br/>
            <a:r>
              <a:t>CSV / SQLite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40280" y="1760220"/>
            <a:ext cx="429768" cy="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1417320"/>
            <a:ext cx="1965960" cy="685800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100" b="1">
                <a:solidFill>
                  <a:srgbClr val="182A4B"/>
                </a:solidFill>
                <a:latin typeface="Aptos"/>
              </a:defRPr>
            </a:pPr>
            <a:r>
              <a:t>2. Profile fields</a:t>
            </a:r>
            <a:br/>
            <a:r>
              <a:t>schema + aggregates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09160" y="1760220"/>
            <a:ext cx="475488" cy="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57800" y="1417320"/>
            <a:ext cx="1920240" cy="685800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100" b="1">
                <a:solidFill>
                  <a:srgbClr val="182A4B"/>
                </a:solidFill>
                <a:latin typeface="Aptos"/>
              </a:defRPr>
            </a:pPr>
            <a:r>
              <a:t>3. Collect signals</a:t>
            </a:r>
            <a:br/>
            <a:r>
              <a:t>rules + validators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78040" y="1760220"/>
            <a:ext cx="475487" cy="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26679" y="1417320"/>
            <a:ext cx="1920240" cy="685800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100" b="1">
                <a:solidFill>
                  <a:srgbClr val="182A4B"/>
                </a:solidFill>
                <a:latin typeface="Aptos"/>
              </a:defRPr>
            </a:pPr>
            <a:r>
              <a:t>4. Fuse evidence</a:t>
            </a:r>
            <a:br/>
            <a:r>
              <a:t>conflict + ambiguity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46919" y="1760220"/>
            <a:ext cx="292609" cy="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12680" y="1417320"/>
            <a:ext cx="1783080" cy="685800"/>
          </a:xfrm>
          <a:prstGeom prst="roundRect">
            <a:avLst/>
          </a:prstGeom>
          <a:solidFill>
            <a:srgbClr val="1E8782"/>
          </a:solidFill>
          <a:ln w="14604">
            <a:solidFill>
              <a:srgbClr val="1E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5. Gemini assist</a:t>
            </a:r>
            <a:br/>
            <a:r>
              <a:t>context/explanation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2788920"/>
            <a:ext cx="3840480" cy="777240"/>
          </a:xfrm>
          <a:prstGeom prst="roundRect">
            <a:avLst/>
          </a:prstGeom>
          <a:solidFill>
            <a:srgbClr val="182A4B"/>
          </a:solidFill>
          <a:ln w="14604">
            <a:solidFill>
              <a:srgbClr val="182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6. Field evidence case</a:t>
            </a:r>
            <a:br/>
            <a:r>
              <a:t>candidate labels • evidence IDs • scores • ambiguity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132320" y="2148840"/>
            <a:ext cx="1554480" cy="54864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001000" y="2148840"/>
            <a:ext cx="2880360" cy="91440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" y="4343400"/>
            <a:ext cx="3063240" cy="777240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1E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200" b="1">
                <a:solidFill>
                  <a:srgbClr val="182A4B"/>
                </a:solidFill>
                <a:latin typeface="Aptos"/>
              </a:defRPr>
            </a:pPr>
            <a:r>
              <a:t>7a. ReviewGuard</a:t>
            </a:r>
            <a:br/>
            <a:r>
              <a:t>scoped contracts + stale reasons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343400"/>
            <a:ext cx="3063240" cy="777240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1E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200" b="1">
                <a:solidFill>
                  <a:srgbClr val="182A4B"/>
                </a:solidFill>
                <a:latin typeface="Aptos"/>
              </a:defRPr>
            </a:pPr>
            <a:r>
              <a:t>7b. Metadata checklist</a:t>
            </a:r>
            <a:br/>
            <a:r>
              <a:t>purpose / retention / owner gaps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4343400"/>
            <a:ext cx="3063240" cy="777240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1E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200" b="1">
                <a:solidFill>
                  <a:srgbClr val="182A4B"/>
                </a:solidFill>
                <a:latin typeface="Aptos"/>
              </a:defRPr>
            </a:pPr>
            <a:r>
              <a:t>8. Human review + outputs</a:t>
            </a:r>
            <a:br/>
            <a:r>
              <a:t>Passport / inventory / gap_report.csv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331720" y="3566160"/>
            <a:ext cx="2331720" cy="68580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80760" y="3566160"/>
            <a:ext cx="0" cy="68580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98079" y="3566160"/>
            <a:ext cx="2377441" cy="685800"/>
          </a:xfrm>
          <a:prstGeom prst="line">
            <a:avLst/>
          </a:prstGeom>
          <a:ln w="22860">
            <a:solidFill>
              <a:srgbClr val="296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5806440"/>
            <a:ext cx="1042416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B24343"/>
                </a:solidFill>
                <a:latin typeface="Aptos"/>
              </a:defRPr>
            </a:pPr>
            <a:r>
              <a:t>Privacy safeguard: use synthetic records, mask examples, minimize Gemini payloads, and never send complete datasets by default.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82A4B"/>
                </a:solidFill>
                <a:latin typeface="Aptos Display"/>
              </a:defRPr>
            </a:pPr>
            <a:r>
              <a:t>Deployment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t>Implementation timeline: 16th Oct – 31st Oct; milestones describe planned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1064240" cy="32004"/>
          </a:xfrm>
          <a:prstGeom prst="rect">
            <a:avLst/>
          </a:prstGeom>
          <a:solidFill>
            <a:srgbClr val="1E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97686"/>
                </a:solidFill>
                <a:latin typeface="Aptos"/>
              </a:defRPr>
            </a:pPr>
            <a:r>
              <a:t>PrivacyTwin  •  AIORI Hackathon 3                                      9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417320" cy="621792"/>
          </a:xfrm>
          <a:prstGeom prst="roundRect">
            <a:avLst/>
          </a:prstGeom>
          <a:solidFill>
            <a:srgbClr val="1E8782"/>
          </a:solidFill>
          <a:ln w="14604">
            <a:solidFill>
              <a:srgbClr val="1E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r>
              <a:t>16th–18th Oct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371600"/>
            <a:ext cx="2057400" cy="621792"/>
          </a:xfrm>
          <a:prstGeom prst="roundRect">
            <a:avLst/>
          </a:prstGeom>
          <a:solidFill>
            <a:srgbClr val="182A4B"/>
          </a:solidFill>
          <a:ln w="14604">
            <a:solidFill>
              <a:srgbClr val="182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371600"/>
            <a:ext cx="6492240" cy="621792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200" b="0">
                <a:solidFill>
                  <a:srgbClr val="2A3442"/>
                </a:solidFill>
                <a:latin typeface="Aptos"/>
              </a:defRPr>
            </a:pPr>
            <a:r>
              <a:t>Local CSV/SQLite scan, profiler, synthetic data fixtures, repository 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67712"/>
            <a:ext cx="1417320" cy="621792"/>
          </a:xfrm>
          <a:prstGeom prst="roundRect">
            <a:avLst/>
          </a:prstGeom>
          <a:solidFill>
            <a:srgbClr val="1E8782"/>
          </a:solidFill>
          <a:ln w="14604">
            <a:solidFill>
              <a:srgbClr val="1E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r>
              <a:t>19th–21st Oct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2267712"/>
            <a:ext cx="2057400" cy="621792"/>
          </a:xfrm>
          <a:prstGeom prst="roundRect">
            <a:avLst/>
          </a:prstGeom>
          <a:solidFill>
            <a:srgbClr val="182A4B"/>
          </a:solidFill>
          <a:ln w="14604">
            <a:solidFill>
              <a:srgbClr val="182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267712"/>
            <a:ext cx="6492240" cy="621792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200" b="0">
                <a:solidFill>
                  <a:srgbClr val="2A3442"/>
                </a:solidFill>
                <a:latin typeface="Aptos"/>
              </a:defRPr>
            </a:pPr>
            <a:r>
              <a:t>Versioned rules, India-first validators, grouped evidence, contradiction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63824"/>
            <a:ext cx="1417320" cy="621792"/>
          </a:xfrm>
          <a:prstGeom prst="roundRect">
            <a:avLst/>
          </a:prstGeom>
          <a:solidFill>
            <a:srgbClr val="1E8782"/>
          </a:solidFill>
          <a:ln w="14604">
            <a:solidFill>
              <a:srgbClr val="1E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r>
              <a:t>22nd–24th Oct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3163824"/>
            <a:ext cx="2057400" cy="621792"/>
          </a:xfrm>
          <a:prstGeom prst="roundRect">
            <a:avLst/>
          </a:prstGeom>
          <a:solidFill>
            <a:srgbClr val="182A4B"/>
          </a:solidFill>
          <a:ln w="14604">
            <a:solidFill>
              <a:srgbClr val="182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ReviewGuard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3163824"/>
            <a:ext cx="6492240" cy="621792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200" b="0">
                <a:solidFill>
                  <a:srgbClr val="2A3442"/>
                </a:solidFill>
                <a:latin typeface="Aptos"/>
              </a:defRPr>
            </a:pPr>
            <a:r>
              <a:t>Persisted contracts, fingerprints, dependency comparison, stale reasons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59935"/>
            <a:ext cx="1417320" cy="621792"/>
          </a:xfrm>
          <a:prstGeom prst="roundRect">
            <a:avLst/>
          </a:prstGeom>
          <a:solidFill>
            <a:srgbClr val="1E8782"/>
          </a:solidFill>
          <a:ln w="14604">
            <a:solidFill>
              <a:srgbClr val="1E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r>
              <a:t>25th–28th Oct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4059935"/>
            <a:ext cx="2057400" cy="621792"/>
          </a:xfrm>
          <a:prstGeom prst="roundRect">
            <a:avLst/>
          </a:prstGeom>
          <a:solidFill>
            <a:srgbClr val="182A4B"/>
          </a:solidFill>
          <a:ln w="14604">
            <a:solidFill>
              <a:srgbClr val="182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Metadata + 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4059935"/>
            <a:ext cx="6492240" cy="621792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200" b="0">
                <a:solidFill>
                  <a:srgbClr val="2A3442"/>
                </a:solidFill>
                <a:latin typeface="Aptos"/>
              </a:defRPr>
            </a:pPr>
            <a:r>
              <a:t>Checklist, Fix Preview, Evidence Passport, review history and exports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56048"/>
            <a:ext cx="1417320" cy="621792"/>
          </a:xfrm>
          <a:prstGeom prst="roundRect">
            <a:avLst/>
          </a:prstGeom>
          <a:solidFill>
            <a:srgbClr val="1E8782"/>
          </a:solidFill>
          <a:ln w="14604">
            <a:solidFill>
              <a:srgbClr val="1E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r>
              <a:t>29th–31st Oct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23160" y="4956048"/>
            <a:ext cx="2057400" cy="621792"/>
          </a:xfrm>
          <a:prstGeom prst="roundRect">
            <a:avLst/>
          </a:prstGeom>
          <a:solidFill>
            <a:srgbClr val="182A4B"/>
          </a:solidFill>
          <a:ln w="14604">
            <a:solidFill>
              <a:srgbClr val="182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Evaluation + demo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4956048"/>
            <a:ext cx="6492240" cy="621792"/>
          </a:xfrm>
          <a:prstGeom prst="roundRect">
            <a:avLst/>
          </a:prstGeom>
          <a:solidFill>
            <a:srgbClr val="F1F6FB"/>
          </a:solidFill>
          <a:ln w="14604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200" b="0">
                <a:solidFill>
                  <a:srgbClr val="2A3442"/>
                </a:solidFill>
                <a:latin typeface="Aptos"/>
              </a:defRPr>
            </a:pPr>
            <a:r>
              <a:t>Held-out metrics, 15–20 change tests, mentor demo and backup recording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897880"/>
            <a:ext cx="1645920" cy="411480"/>
          </a:xfrm>
          <a:prstGeom prst="roundRect">
            <a:avLst/>
          </a:prstGeom>
          <a:solidFill>
            <a:srgbClr val="182A4B"/>
          </a:solidFill>
          <a:ln w="14604">
            <a:solidFill>
              <a:srgbClr val="182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Day-one checklist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897880"/>
            <a:ext cx="850392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82A4B"/>
                </a:solidFill>
                <a:latin typeface="Aptos"/>
              </a:defRPr>
            </a:pPr>
            <a:r>
              <a:t>Confirm repository access, proposal template, licensing/attribution and submission requirements early.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82A4B"/>
                </a:solidFill>
                <a:latin typeface="Aptos Display"/>
              </a:defRPr>
            </a:pPr>
            <a:r>
              <a:t>Bibliography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7686"/>
                </a:solidFill>
                <a:latin typeface="Aptos"/>
              </a:defRPr>
            </a:pPr>
            <a:r>
              <a:t>Selected related works identified in the current literature review. Verify final citation metadata before submission.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1064240" cy="32004"/>
          </a:xfrm>
          <a:prstGeom prst="rect">
            <a:avLst/>
          </a:prstGeom>
          <a:solidFill>
            <a:srgbClr val="1E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97686"/>
                </a:solidFill>
                <a:latin typeface="Aptos"/>
              </a:defRPr>
            </a:pPr>
            <a:r>
              <a:t>PrivacyTwin  •  AIORI Hackathon 3                                      10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881360" cy="5212080"/>
          </a:xfrm>
          <a:prstGeom prst="rect">
            <a:avLst/>
          </a:prstGeom>
          <a:noFill/>
        </p:spPr>
        <p:txBody>
          <a:bodyPr wrap="square" lIns="45720" rIns="36576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A3442"/>
                </a:solidFill>
                <a:latin typeface="Aptos"/>
              </a:defRPr>
            </a:pPr>
            <a:r>
              <a:t>• [1] Grünewald and Schurbert. “TEIRESIAS: Scalable Discovery and Continuous Inventory of Personal Data at Rest in Cloud Native Systems.” ICSOC, 2022.</a:t>
            </a:r>
          </a:p>
          <a:p>
            <a:pPr>
              <a:spcAft>
                <a:spcPts val="800"/>
              </a:spcAft>
              <a:defRPr sz="1200">
                <a:solidFill>
                  <a:srgbClr val="2A3442"/>
                </a:solidFill>
                <a:latin typeface="Aptos"/>
              </a:defRPr>
            </a:pPr>
            <a:r>
              <a:t>• [2] Gambarelli and Gangemi. “PRIVAFRAME: A Frame-Based Knowledge Graph for Sensitive Personal Data.” Big Data and Cognitive Computing, 2022.</a:t>
            </a:r>
          </a:p>
          <a:p>
            <a:pPr>
              <a:spcAft>
                <a:spcPts val="800"/>
              </a:spcAft>
              <a:defRPr sz="1200">
                <a:solidFill>
                  <a:srgbClr val="2A3442"/>
                </a:solidFill>
                <a:latin typeface="Aptos"/>
              </a:defRPr>
            </a:pPr>
            <a:r>
              <a:t>• [3] “Managing Personal Identifiable Information in Data Lakes.” Research on PII discovery, metadata models and lifecycle management.</a:t>
            </a:r>
          </a:p>
          <a:p>
            <a:pPr>
              <a:spcAft>
                <a:spcPts val="800"/>
              </a:spcAft>
              <a:defRPr sz="1200">
                <a:solidFill>
                  <a:srgbClr val="2A3442"/>
                </a:solidFill>
                <a:latin typeface="Aptos"/>
              </a:defRPr>
            </a:pPr>
            <a:r>
              <a:t>• [4] “Automated Column-Level Data Lineage and Audit Trails for GDPR Compliance in MarTech.”</a:t>
            </a:r>
          </a:p>
          <a:p>
            <a:pPr>
              <a:spcAft>
                <a:spcPts val="800"/>
              </a:spcAft>
              <a:defRPr sz="1200">
                <a:solidFill>
                  <a:srgbClr val="2A3442"/>
                </a:solidFill>
                <a:latin typeface="Aptos"/>
              </a:defRPr>
            </a:pPr>
            <a:r>
              <a:t>• [5] Zuo and Lee. “Addressing Memorization and Aggregation Risks in AI: A Knowledge Graph Approach to Privacy.” Applied Sciences, 2026.</a:t>
            </a:r>
          </a:p>
          <a:p>
            <a:pPr>
              <a:spcAft>
                <a:spcPts val="800"/>
              </a:spcAft>
              <a:defRPr sz="1200">
                <a:solidFill>
                  <a:srgbClr val="2A3442"/>
                </a:solidFill>
                <a:latin typeface="Aptos"/>
              </a:defRPr>
            </a:pPr>
            <a:r>
              <a:t>• [6] Sethi et al. “Classifying 1.5 Million Columns: An Automated Multi-Engine Approach to Enterprise PII Governance.” ICOSAAS, 2026. DOI: 10.1109/ICOSAAS68663.2026.11648896.</a:t>
            </a:r>
          </a:p>
          <a:p>
            <a:pPr>
              <a:spcAft>
                <a:spcPts val="800"/>
              </a:spcAft>
              <a:defRPr sz="1200">
                <a:solidFill>
                  <a:srgbClr val="2A3442"/>
                </a:solidFill>
                <a:latin typeface="Aptos"/>
              </a:defRPr>
            </a:pPr>
            <a:r>
              <a:t>• [7] Shahriar et al. “A Comparative Study on Textual and Multimodal PII Detection Using Large Language Models.” Computer Standards &amp; Interfaces, 2026.</a:t>
            </a:r>
          </a:p>
          <a:p>
            <a:pPr>
              <a:spcAft>
                <a:spcPts val="800"/>
              </a:spcAft>
              <a:defRPr sz="1200">
                <a:solidFill>
                  <a:srgbClr val="2A3442"/>
                </a:solidFill>
                <a:latin typeface="Aptos"/>
              </a:defRPr>
            </a:pPr>
            <a:r>
              <a:t>• [8] Pantelelis and Kalloniatis. “PAM: A domain-specific language for specifying privacy requirements from regulation to runtime.” Requirements Engineering, 2026.</a:t>
            </a:r>
          </a:p>
          <a:p>
            <a:pPr>
              <a:spcAft>
                <a:spcPts val="800"/>
              </a:spcAft>
              <a:defRPr sz="1200">
                <a:solidFill>
                  <a:srgbClr val="2A3442"/>
                </a:solidFill>
                <a:latin typeface="Aptos"/>
              </a:defRPr>
            </a:pPr>
            <a:r>
              <a:t>• [9] User-provided source: NiviAkka-DRDO-Hackathon.pdf. PrivacyTwin design recommendations, ReviewGuard, test scenarios and implementation boundaries.</a:t>
            </a:r>
          </a:p>
          <a:p>
            <a:pPr>
              <a:spcAft>
                <a:spcPts val="800"/>
              </a:spcAft>
              <a:defRPr sz="1200">
                <a:solidFill>
                  <a:srgbClr val="2A3442"/>
                </a:solidFill>
                <a:latin typeface="Aptos"/>
              </a:defRPr>
            </a:pPr>
            <a:r>
              <a:t>• [10] Google. Gemini API documentation. Consult the current official documentation for SDK, model availability, security and usage limits.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40280"/>
            <a:ext cx="1033272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  <a:defRPr sz="2700" b="1">
                <a:solidFill>
                  <a:srgbClr val="6CCFC4"/>
                </a:solidFill>
                <a:latin typeface="Aptos"/>
              </a:defRPr>
            </a:pPr>
            <a:r>
              <a:t>PrivacyTwin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24128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Discover evidence. Explain uncertainty. Reopen only what changed.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4251960"/>
            <a:ext cx="4114800" cy="685800"/>
          </a:xfrm>
          <a:prstGeom prst="roundRect">
            <a:avLst/>
          </a:prstGeom>
          <a:solidFill>
            <a:srgbClr val="1E8782"/>
          </a:solidFill>
          <a:ln w="14604">
            <a:solidFill>
              <a:srgbClr val="1E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06440"/>
            <a:ext cx="10241280" cy="2554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rPr dirty="0"/>
              <a:t>AIORI Hackathon 3  •  PS-019  •  </a:t>
            </a:r>
            <a:r>
              <a:rPr lang="en-IN" dirty="0"/>
              <a:t>Cognitive Crew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1514</Words>
  <Application>Microsoft Office PowerPoint</Application>
  <PresentationFormat>Widescreen</PresentationFormat>
  <Paragraphs>168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Nivedita Selvam</dc:creator>
  <cp:keywords/>
  <dc:description>generated using python-pptx</dc:description>
  <cp:lastModifiedBy>Nivedita Selvam</cp:lastModifiedBy>
  <cp:revision>3</cp:revision>
  <cp:lastPrinted>2026-10-14T16:55:19Z</cp:lastPrinted>
  <dcterms:created xsi:type="dcterms:W3CDTF">2013-01-27T09:14:16Z</dcterms:created>
  <dcterms:modified xsi:type="dcterms:W3CDTF">2026-10-14T16:59:22Z</dcterms:modified>
  <cp:category/>
</cp:coreProperties>
</file>